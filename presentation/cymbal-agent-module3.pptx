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minutes. Don't introduce yourself for more than one line - get to the operator's</a:t>
            </a:r>
          </a:p>
          <a:p>
            <a:r>
              <a:t>question fast. Thesis to land early: THE MODEL IS A ROUTER; the hard parts were</a:t>
            </a:r>
          </a:p>
          <a:p>
            <a:r>
              <a:t>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seconds. Say the question out loud as an operator would. Then: "that's three systems,</a:t>
            </a:r>
          </a:p>
          <a:p>
            <a:r>
              <a:t>three teams, three days." Pause. Don't rush into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seconds. Three beats:</a:t>
            </a:r>
          </a:p>
          <a:p>
            <a:r>
              <a:t>(1) One model, four tools - it routes, it doesn't store.</a:t>
            </a:r>
          </a:p>
          <a:p>
            <a:r>
              <a:t>(2) Latencies differ by an ORDER OF MAGNITUDE - 2s to 18s. That's a design constraint;</a:t>
            </a:r>
          </a:p>
          <a:p>
            <a:r>
              <a:t>    it dictates what fits in one turn.</a:t>
            </a:r>
          </a:p>
          <a:p>
            <a:r>
              <a:t>(3) Every tool is an ordinary service with ordinary IAM. That's the point.</a:t>
            </a:r>
          </a:p>
          <a:p/>
          <a:p>
            <a:r>
              <a:t>If asked about security: the Bigtable tool is a PRIVATE Cloud Run service. The agent</a:t>
            </a:r>
          </a:p>
          <a:p>
            <a:r>
              <a:t>impersonates a service account, mints an OIDC ID token scoped to the Cloud Run audience,</a:t>
            </a:r>
          </a:p>
          <a:p>
            <a:r>
              <a:t>and calls with roles/run.invoker. No public endpoint, no API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OVER THE 9 SECONDS. Don't watch the spinner.</a:t>
            </a:r>
          </a:p>
          <a:p/>
          <a:p>
            <a:r>
              <a:t>Say: "This isn't the model remembering a manual. It's embedding the question, running a</a:t>
            </a:r>
          </a:p>
          <a:p>
            <a:r>
              <a:t>cosine search over 129 chunks of a real Toshiba service PDF, and stitching neighbouring</a:t>
            </a:r>
          </a:p>
          <a:p>
            <a:r>
              <a:t>chunks so the procedure isn't cut in half."</a:t>
            </a:r>
          </a:p>
          <a:p/>
          <a:p>
            <a:r>
              <a:t>THEN POINT AT TWO THINGS:</a:t>
            </a:r>
          </a:p>
          <a:p>
            <a:r>
              <a:t>1. "Do NOT re-swipe immediately" - a vendor safety instruction. If the model invented</a:t>
            </a:r>
          </a:p>
          <a:p>
            <a:r>
              <a:t>   this it might say the opposite, and that's a duplicate charge on a customer's card.</a:t>
            </a:r>
          </a:p>
          <a:p>
            <a:r>
              <a:t>2. The storage.cloud.google.com link - every answer carries its source PDF. An auditor</a:t>
            </a:r>
          </a:p>
          <a:p>
            <a:r>
              <a:t>   can click through. Ungrounded output is not an answer, it's a suggestion.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YOUR BEST 40 SECONDS. Set it up BEFORE you type:</a:t>
            </a:r>
          </a:p>
          <a:p>
            <a:r>
              <a:t>"Now watch what happens when the question is unanswerable."</a:t>
            </a:r>
          </a:p>
          <a:p>
            <a:r>
              <a:t>Fastest demo you have - 5.3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 the punchline slowly. Then the generalisation - this is the line to leave in</a:t>
            </a:r>
          </a:p>
          <a:p>
            <a:r>
              <a:t>their heads.</a:t>
            </a:r>
          </a:p>
          <a:p/>
          <a:p>
            <a:r>
              <a:t>ALSO SAY: the agent did NOT call the analytics tool at all here. The refusal is</a:t>
            </a:r>
          </a:p>
          <a:p>
            <a:r>
              <a:t>structural, not cosmetic. There's a live integration test asserting exactly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100 seconds. If tight, do only #1 - it's the best story.</a:t>
            </a:r>
          </a:p>
          <a:p>
            <a:r>
              <a:t>#1 lesson for the room: tool output is an API contract with a NON-DETERMINISTIC client.</a:t>
            </a:r>
          </a:p>
          <a:p/>
          <a:p>
            <a:r>
              <a:t>Spare card if the room is infra-heavy: gemini-3.6-flash publishes only to `global`.</a:t>
            </a:r>
          </a:p>
          <a:p>
            <a:r>
              <a:t>Our .env said us-central1, so every model call would have 404'd. Invisible until the</a:t>
            </a:r>
          </a:p>
          <a:p>
            <a:r>
              <a:t>tests started loading .env.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RUN LIVE - 42 seconds. Have it open in a second browser tab from before the talk.</a:t>
            </a:r>
          </a:p>
          <a:p>
            <a:r>
              <a:t>"Here's one I ran earlier."</a:t>
            </a:r>
          </a:p>
          <a:p/>
          <a:p>
            <a:r>
              <a:t>Let this slide sit for a beat. Let them accept it.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your strongest slide. Showing a flaw in your own demo is the highest-trust move</a:t>
            </a:r>
          </a:p>
          <a:p>
            <a:r>
              <a:t>available - a room of engineers assumes you're hiding something, and pre-empting it makes</a:t>
            </a:r>
          </a:p>
          <a:p>
            <a:r>
              <a:t>everything else you claimed credible.</a:t>
            </a:r>
          </a:p>
          <a:p/>
          <a:p>
            <a:r>
              <a:t>Verified against the raw table: 351 cashier_promo_abuse + 20 order_anomaly = 371.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Slow down here. This is the single most transferable idea in the talk, and it applies to</a:t>
            </a:r>
          </a:p>
          <a:p>
            <a:r>
              <a:t>every NL2SQL / "chat with your data" product any of them will be asked to evaluate.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someone asks "what stops it querying data I'm not allowed to see" - this is the slide.</a:t>
            </a:r>
          </a:p>
          <a:p/>
          <a:p>
            <a:r>
              <a:t>Note both layers are required: delegation without RLS just changes whose name is on the</a:t>
            </a:r>
          </a:p>
          <a:p>
            <a:r>
              <a:t>query; RLS without delegation isolates nothing, because there's only ever one principal.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lines, then STOP. Don't trail off into "so yeah, that's it". End on line 3 and</a:t>
            </a:r>
          </a:p>
          <a:p>
            <a:r>
              <a:t>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if the live demo fails. This is genuine captured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slide for Q&amp;A. The HP/Toshiba point is worth volunteering if anyone asks how you</a:t>
            </a:r>
          </a:p>
          <a:p>
            <a:r>
              <a:t>know retrieval quality is good - it shows you measured rather than assumed.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present this - jump here during Q&amp;A if useful.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800"/>
              </a:spcAft>
            </a:pPr>
            <a:r>
              <a:rPr sz="1300" b="1">
                <a:solidFill>
                  <a:srgbClr val="8B949E"/>
                </a:solidFill>
                <a:latin typeface="Arial"/>
              </a:rPr>
              <a:t>DATA ANALYTICS ADVANCED ELEVATE  ·  MODULE 3</a:t>
            </a:r>
          </a:p>
          <a:p>
            <a:pPr algn="ctr">
              <a:spcAft>
                <a:spcPts val="1400"/>
              </a:spcAft>
            </a:pPr>
            <a:r>
              <a:rPr sz="5200" b="1">
                <a:solidFill>
                  <a:srgbClr val="FFFFFF"/>
                </a:solidFill>
                <a:latin typeface="Arial"/>
              </a:rPr>
              <a:t>Cymbal Operations Agent</a:t>
            </a:r>
          </a:p>
          <a:p>
            <a:pPr algn="ctr">
              <a:spcAft>
                <a:spcPts val="3000"/>
              </a:spcAft>
            </a:pPr>
            <a:r>
              <a:rPr sz="2000" b="0">
                <a:solidFill>
                  <a:srgbClr val="58A6FF"/>
                </a:solidFill>
                <a:latin typeface="Arial"/>
              </a:rPr>
              <a:t>One question. Three data systems. No humans in between.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8B949E"/>
                </a:solidFill>
                <a:latin typeface="Consolas"/>
              </a:rPr>
              <a:t>Google ADK  ·  Gemini 3.6 Flash  ·  BigQuery  ·  Bigtable  ·  Cloud 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B949E"/>
                </a:solidFill>
                <a:latin typeface="Arial"/>
              </a:rPr>
              <a:t>THE QUESTION NOBODY CAN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</a:p>
          <a:p>
            <a:pPr>
              <a:spcAft>
                <a:spcPts val="0"/>
              </a:spcAft>
            </a:pPr>
            <a:r>
              <a:rPr sz="2700" b="0">
                <a:solidFill>
                  <a:srgbClr val="E6EDF3"/>
                </a:solidFill>
                <a:latin typeface="Arial"/>
              </a:rPr>
              <a:t>"My Ginza store - is it about to </a:t>
            </a:r>
            <a:r>
              <a:rPr sz="2700" b="1">
                <a:solidFill>
                  <a:srgbClr val="58A6FF"/>
                </a:solidFill>
                <a:latin typeface="Arial"/>
              </a:rPr>
              <a:t>stock out</a:t>
            </a:r>
            <a:r>
              <a:rPr sz="2700" b="0">
                <a:solidFill>
                  <a:srgbClr val="E6EDF3"/>
                </a:solidFill>
                <a:latin typeface="Arial"/>
              </a:rPr>
              <a:t>, is the </a:t>
            </a:r>
            <a:r>
              <a:rPr sz="2700" b="1">
                <a:solidFill>
                  <a:srgbClr val="58A6FF"/>
                </a:solidFill>
                <a:latin typeface="Arial"/>
              </a:rPr>
              <a:t>card reader at lane 3</a:t>
            </a:r>
            <a:r>
              <a:rPr sz="2700" b="0">
                <a:solidFill>
                  <a:srgbClr val="E6EDF3"/>
                </a:solidFill>
                <a:latin typeface="Arial"/>
              </a:rPr>
              <a:t> broken, and is </a:t>
            </a:r>
            <a:r>
              <a:rPr sz="2700" b="1">
                <a:solidFill>
                  <a:srgbClr val="58A6FF"/>
                </a:solidFill>
                <a:latin typeface="Arial"/>
              </a:rPr>
              <a:t>cashier 1190</a:t>
            </a:r>
            <a:r>
              <a:rPr sz="2700" b="0">
                <a:solidFill>
                  <a:srgbClr val="E6EDF3"/>
                </a:solidFill>
                <a:latin typeface="Arial"/>
              </a:rPr>
              <a:t> abusing manager overrides?"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017520"/>
            <a:ext cx="3520440" cy="105156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Data warehouse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8B949E"/>
                </a:solidFill>
                <a:latin typeface="Arial"/>
              </a:rPr>
              <a:t>Inventory, sales, 7-day baselines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017520"/>
            <a:ext cx="38100" cy="105156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16552" y="3017520"/>
            <a:ext cx="3520440" cy="105156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 pile of PDFs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8B949E"/>
                </a:solidFill>
                <a:latin typeface="Arial"/>
              </a:rPr>
              <a:t>Vendor service manuals nobody reads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6552" y="3017520"/>
            <a:ext cx="38100" cy="1051560"/>
          </a:xfrm>
          <a:prstGeom prst="rect">
            <a:avLst/>
          </a:prstGeom>
          <a:solidFill>
            <a:srgbClr val="B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93024" y="3017520"/>
            <a:ext cx="3520440" cy="105156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Real-time store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8B949E"/>
                </a:solidFill>
                <a:latin typeface="Arial"/>
              </a:rPr>
              <a:t>Live per-cashier counters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3024" y="3017520"/>
            <a:ext cx="38100" cy="105156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Three systems. Three teams. Usually three days.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8B949E"/>
                </a:solidFill>
                <a:latin typeface="Arial"/>
              </a:rPr>
              <a:t>Nobody owns the question, because the question crosses all three.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B949E"/>
                </a:solidFill>
                <a:latin typeface="Arial"/>
              </a:rPr>
              <a:t>THE WHOLE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80560" y="914400"/>
            <a:ext cx="3200400" cy="68580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Coordinator Agent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gemini-3.6-flash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2697480" cy="150876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Analytics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8B949E"/>
                </a:solidFill>
                <a:latin typeface="Arial"/>
              </a:rPr>
              <a:t>NL2SQL Data Agent
BigQuery gold tables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3FB950"/>
                </a:solidFill>
                <a:latin typeface="Consolas"/>
              </a:rPr>
              <a:t>~18s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38100" cy="150876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38728" y="1965960"/>
            <a:ext cx="2697480" cy="150876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Runbook RAG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8B949E"/>
                </a:solidFill>
                <a:latin typeface="Arial"/>
              </a:rPr>
              <a:t>VECTOR_SEARCH
129 manual chunks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3FB950"/>
                </a:solidFill>
                <a:latin typeface="Consolas"/>
              </a:rPr>
              <a:t>~2s</a:t>
            </a:r>
          </a:p>
        </p:txBody>
      </p:sp>
      <p:sp>
        <p:nvSpPr>
          <p:cNvPr id="7" name="Rectangle 6"/>
          <p:cNvSpPr/>
          <p:nvPr/>
        </p:nvSpPr>
        <p:spPr>
          <a:xfrm>
            <a:off x="3538728" y="1965960"/>
            <a:ext cx="38100" cy="1508760"/>
          </a:xfrm>
          <a:prstGeom prst="rect">
            <a:avLst/>
          </a:prstGeom>
          <a:solidFill>
            <a:srgbClr val="B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37376" y="1965960"/>
            <a:ext cx="2697480" cy="150876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Real-time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8B949E"/>
                </a:solidFill>
                <a:latin typeface="Arial"/>
              </a:rPr>
              <a:t>MCP on Cloud Run
Bigtable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3FB950"/>
                </a:solidFill>
                <a:latin typeface="Consolas"/>
              </a:rPr>
              <a:t>~3s warm</a:t>
            </a:r>
          </a:p>
        </p:txBody>
      </p:sp>
      <p:sp>
        <p:nvSpPr>
          <p:cNvPr id="9" name="Rectangle 8"/>
          <p:cNvSpPr/>
          <p:nvPr/>
        </p:nvSpPr>
        <p:spPr>
          <a:xfrm>
            <a:off x="6437376" y="1965960"/>
            <a:ext cx="38100" cy="150876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36024" y="1965960"/>
            <a:ext cx="2697480" cy="150876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Entity resolution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8B949E"/>
                </a:solidFill>
                <a:latin typeface="Arial"/>
              </a:rPr>
              <a:t>VECTOR_SEARCH
16-store directory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3FB950"/>
                </a:solidFill>
                <a:latin typeface="Consolas"/>
              </a:rPr>
              <a:t>~2s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36024" y="1965960"/>
            <a:ext cx="38100" cy="150876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10927080" cy="914400"/>
          </a:xfrm>
          <a:prstGeom prst="roundRect">
            <a:avLst/>
          </a:prstGeom>
          <a:solidFill>
            <a:srgbClr val="161B22"/>
          </a:solidFill>
          <a:ln w="1587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E6EDF3"/>
                </a:solidFill>
                <a:latin typeface="Arial"/>
              </a:rPr>
              <a:t>The model </a:t>
            </a:r>
            <a:r>
              <a:rPr sz="1500" b="1">
                <a:solidFill>
                  <a:srgbClr val="FFFFFF"/>
                </a:solidFill>
                <a:latin typeface="Arial"/>
              </a:rPr>
              <a:t>writes no ungoverned SQL</a:t>
            </a:r>
            <a:r>
              <a:rPr sz="1500" b="0">
                <a:solidFill>
                  <a:srgbClr val="E6EDF3"/>
                </a:solidFill>
                <a:latin typeface="Arial"/>
              </a:rPr>
              <a:t> and </a:t>
            </a:r>
            <a:r>
              <a:rPr sz="1500" b="1">
                <a:solidFill>
                  <a:srgbClr val="FFFFFF"/>
                </a:solidFill>
                <a:latin typeface="Arial"/>
              </a:rPr>
              <a:t>holds no data</a:t>
            </a:r>
            <a:r>
              <a:rPr sz="1500" b="0">
                <a:solidFill>
                  <a:srgbClr val="E6EDF3"/>
                </a:solidFill>
                <a:latin typeface="Arial"/>
              </a:rPr>
              <a:t>. It picks a tool and passes arguments.
Every tool is an ordinary service with ordinary IAM.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400"/>
              </a:spcAft>
            </a:pPr>
            <a:r>
              <a:rPr sz="1300" b="1">
                <a:solidFill>
                  <a:srgbClr val="3FB950"/>
                </a:solidFill>
                <a:latin typeface="Arial"/>
              </a:rPr>
              <a:t>DEMO 1   ·   LIVE   ·   9.3s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It works — and it cites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94560" y="3017520"/>
            <a:ext cx="7772400" cy="13716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58A6FF"/>
                </a:solidFill>
                <a:latin typeface="Consolas"/>
              </a:rPr>
              <a:t>How do I fix error code ERR-PAY-4001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58A6FF"/>
                </a:solidFill>
                <a:latin typeface="Consolas"/>
              </a:rPr>
              <a:t>on the POS EMV terminal reader?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8B949E"/>
                </a:solidFill>
                <a:latin typeface="Consolas"/>
              </a:rPr>
              <a:t>Switch to  adk web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400"/>
              </a:spcAft>
            </a:pPr>
            <a:r>
              <a:rPr sz="1300" b="1">
                <a:solidFill>
                  <a:srgbClr val="3FB950"/>
                </a:solidFill>
                <a:latin typeface="Arial"/>
              </a:rPr>
              <a:t>DEMO 2   ·   LIVE   ·   5.3s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Now watch it </a:t>
            </a:r>
            <a:r>
              <a:rPr sz="4000" b="1">
                <a:solidFill>
                  <a:srgbClr val="58A6FF"/>
                </a:solidFill>
                <a:latin typeface="Arial"/>
              </a:rPr>
              <a:t>refuse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94560" y="3017520"/>
            <a:ext cx="7772400" cy="13716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58A6FF"/>
                </a:solidFill>
                <a:latin typeface="Consolas"/>
              </a:rPr>
              <a:t>What is the total on-hand inventory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58A6FF"/>
                </a:solidFill>
                <a:latin typeface="Consolas"/>
              </a:rPr>
              <a:t>at the Ginza store?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B949E"/>
                </a:solidFill>
                <a:latin typeface="Arial"/>
              </a:rPr>
              <a:t>TWO STORES. IDENTICAL NAMES.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60120"/>
          <a:ext cx="1092708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806440"/>
                <a:gridCol w="1828800"/>
                <a:gridCol w="146304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B949E"/>
                          </a:solidFill>
                          <a:latin typeface="Arial"/>
                        </a:rPr>
                        <a:t>store_id</a:t>
                      </a:r>
                    </a:p>
                  </a:txBody>
                  <a:tcPr marL="91440" marR="91440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B949E"/>
                          </a:solidFill>
                          <a:latin typeface="Arial"/>
                        </a:rPr>
                        <a:t>store_name</a:t>
                      </a:r>
                    </a:p>
                  </a:txBody>
                  <a:tcPr marL="91440" marR="91440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B949E"/>
                          </a:solidFill>
                          <a:latin typeface="Arial"/>
                        </a:rPr>
                        <a:t>city</a:t>
                      </a:r>
                    </a:p>
                  </a:txBody>
                  <a:tcPr marL="91440" marR="91440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8B949E"/>
                          </a:solidFill>
                          <a:latin typeface="Arial"/>
                        </a:rPr>
                        <a:t>cosine</a:t>
                      </a:r>
                    </a:p>
                  </a:txBody>
                  <a:tcPr marL="91440" marR="91440" marT="36576" marB="36576" anchor="ctr">
                    <a:solidFill>
                      <a:srgbClr val="161B2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8A6FF"/>
                          </a:solidFill>
                          <a:latin typeface="Consolas"/>
                        </a:rPr>
                        <a:t>STORE_001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6EDF3"/>
                          </a:solidFill>
                          <a:latin typeface="Arial"/>
                        </a:rPr>
                        <a:t>Cymbal Tokyo Ginza District Flagship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6EDF3"/>
                          </a:solidFill>
                          <a:latin typeface="Arial"/>
                        </a:rPr>
                        <a:t>Tokyo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E6EDF3"/>
                          </a:solidFill>
                          <a:latin typeface="Consolas"/>
                        </a:rPr>
                        <a:t>0.6955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8A6FF"/>
                          </a:solidFill>
                          <a:latin typeface="Consolas"/>
                        </a:rPr>
                        <a:t>STORE_013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6EDF3"/>
                          </a:solidFill>
                          <a:latin typeface="Arial"/>
                        </a:rPr>
                        <a:t>Cymbal Tokyo Ginza District Flagship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6EDF3"/>
                          </a:solidFill>
                          <a:latin typeface="Arial"/>
                        </a:rPr>
                        <a:t>Tokyo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E6EDF3"/>
                          </a:solidFill>
                          <a:latin typeface="Consolas"/>
                        </a:rPr>
                        <a:t>0.6915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40080" y="2423160"/>
            <a:ext cx="10927080" cy="777240"/>
          </a:xfrm>
          <a:prstGeom prst="roundRect">
            <a:avLst/>
          </a:prstGeom>
          <a:solidFill>
            <a:srgbClr val="161B22"/>
          </a:solidFill>
          <a:ln w="15875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E6EDF3"/>
                </a:solidFill>
                <a:latin typeface="Arial"/>
              </a:rPr>
              <a:t>That gap is noise. A tool that returns the higher one returns a confident, correctly-formatted answer about the </a:t>
            </a:r>
            <a:r>
              <a:rPr sz="1500" b="1">
                <a:solidFill>
                  <a:srgbClr val="F85149"/>
                </a:solidFill>
                <a:latin typeface="Arial"/>
              </a:rPr>
              <a:t>wrong store</a:t>
            </a:r>
            <a:r>
              <a:rPr sz="1500" b="0">
                <a:solidFill>
                  <a:srgbClr val="E6EDF3"/>
                </a:solidFill>
                <a:latin typeface="Arial"/>
              </a:rPr>
              <a:t> — and nobody ever finds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9270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The dangerous failure isn't the one that crashes.</a:t>
            </a:r>
          </a:p>
          <a:p>
            <a:pPr algn="ctr">
              <a:spcAft>
                <a:spcPts val="600"/>
              </a:spcAft>
            </a:pPr>
            <a:r>
              <a:rPr sz="2800" b="1">
                <a:solidFill>
                  <a:srgbClr val="58A6FF"/>
                </a:solidFill>
                <a:latin typeface="Arial"/>
              </a:rPr>
              <a:t>It's the one that looks exactly like success.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B949E"/>
                </a:solidFill>
                <a:latin typeface="Arial"/>
              </a:rPr>
              <a:t>THREE THINGS THAT ACTUALLY BIT US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51560"/>
            <a:ext cx="3520440" cy="310896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 · The model was eating base64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3FB950"/>
                </a:solidFill>
                <a:latin typeface="Consolas"/>
              </a:rPr>
              <a:t>"QLStkeuFHrk="  →  5293.57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38100" cy="310896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Arial"/>
              </a:rPr>
              <a:t>Bigtable returned packed IEEE-754 doubles. Gemini didn't error — it quietly made things up. </a:t>
            </a:r>
            <a:r>
              <a:rPr sz="1100" b="1">
                <a:solidFill>
                  <a:srgbClr val="FFFFFF"/>
                </a:solidFill>
                <a:latin typeface="Arial"/>
              </a:rPr>
              <a:t>~150 lines of "working" code never ran.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6552" y="1051560"/>
            <a:ext cx="3520440" cy="310896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 · Parallel wasn't parallel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8B949E"/>
                </a:solidFill>
                <a:latin typeface="Arial"/>
              </a:rPr>
              <a:t>Sync tools run on the event loop unless a thread pool is configured — and adk web doesn't configure one. Two "concurrent" tools ran back to back.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16552" y="1051560"/>
            <a:ext cx="38100" cy="310896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Nothing failed. It was just silently twice as slow.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93024" y="1051560"/>
            <a:ext cx="3520440" cy="310896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 · Iceberg rejects row-level security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8B949E"/>
                </a:solidFill>
                <a:latin typeface="Arial"/>
              </a:rPr>
              <a:t>We chose an open table format for interoperability. It cost us BigQuery-native governance.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93024" y="1051560"/>
            <a:ext cx="38100" cy="3108960"/>
          </a:xfrm>
          <a:prstGeom prst="rect">
            <a:avLst/>
          </a:prstGeom>
          <a:solidFill>
            <a:srgbClr val="B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 trade-off to make deliberately — not discover in production.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26280"/>
            <a:ext cx="10927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8B949E"/>
                </a:solidFill>
                <a:latin typeface="Arial"/>
              </a:rPr>
              <a:t>Every one of these was </a:t>
            </a:r>
            <a:r>
              <a:rPr sz="1600" b="1">
                <a:solidFill>
                  <a:srgbClr val="D29922"/>
                </a:solidFill>
                <a:latin typeface="Arial"/>
              </a:rPr>
              <a:t>silent</a:t>
            </a:r>
            <a:r>
              <a:rPr sz="1600" b="0">
                <a:solidFill>
                  <a:srgbClr val="8B949E"/>
                </a:solidFill>
                <a:latin typeface="Arial"/>
              </a:rPr>
              <a:t>. None threw an exception.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B949E"/>
                </a:solidFill>
                <a:latin typeface="Arial"/>
              </a:rPr>
              <a:t>WHERE IT'S STILL WRONG   ·   PRE-BAKED   ·   42S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Live vs. 7-day cashier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920240"/>
          <a:ext cx="10927080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9080"/>
                <a:gridCol w="2286000"/>
                <a:gridCol w="2286000"/>
                <a:gridCol w="228600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8B949E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91440" marR="91440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8B949E"/>
                          </a:solidFill>
                          <a:latin typeface="Arial"/>
                        </a:rPr>
                        <a:t>Live 1-hour</a:t>
                      </a:r>
                    </a:p>
                  </a:txBody>
                  <a:tcPr marL="91440" marR="91440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8B949E"/>
                          </a:solidFill>
                          <a:latin typeface="Arial"/>
                        </a:rPr>
                        <a:t>7-day baseline</a:t>
                      </a:r>
                    </a:p>
                  </a:txBody>
                  <a:tcPr marL="91440" marR="91440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8B949E"/>
                          </a:solidFill>
                          <a:latin typeface="Arial"/>
                        </a:rPr>
                        <a:t>Delta</a:t>
                      </a:r>
                    </a:p>
                  </a:txBody>
                  <a:tcPr marL="91440" marR="91440" marT="36576" marB="36576" anchor="ctr">
                    <a:solidFill>
                      <a:srgbClr val="161B2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E6EDF3"/>
                          </a:solidFill>
                          <a:latin typeface="Arial"/>
                        </a:rPr>
                        <a:t>Manual Override Rate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E6EDF3"/>
                          </a:solidFill>
                          <a:latin typeface="Consolas"/>
                        </a:rPr>
                        <a:t>71.05%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E6EDF3"/>
                          </a:solidFill>
                          <a:latin typeface="Consolas"/>
                        </a:rPr>
                        <a:t>94.6%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3FB950"/>
                          </a:solidFill>
                          <a:latin typeface="Consolas"/>
                        </a:rPr>
                        <a:t>−23.55pp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200400"/>
            <a:ext cx="10927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8B949E"/>
                </a:solidFill>
                <a:latin typeface="Arial"/>
              </a:rPr>
              <a:t>Clean. Executive-ready. Two decimal places.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B949E"/>
                </a:solidFill>
                <a:latin typeface="Arial"/>
              </a:rPr>
              <a:t>WHERE IT'S STILL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27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6600" b="1">
                <a:solidFill>
                  <a:srgbClr val="58A6FF"/>
                </a:solidFill>
                <a:latin typeface="Consolas"/>
              </a:rPr>
              <a:t>94.6%</a:t>
            </a:r>
          </a:p>
          <a:p>
            <a:pPr algn="ctr">
              <a:spcAft>
                <a:spcPts val="600"/>
              </a:spcAft>
            </a:pPr>
            <a:r>
              <a:rPr sz="2400" b="0">
                <a:solidFill>
                  <a:srgbClr val="E6EDF3"/>
                </a:solidFill>
                <a:latin typeface="Arial"/>
              </a:rPr>
              <a:t>is </a:t>
            </a:r>
            <a:r>
              <a:rPr sz="2400" b="1">
                <a:solidFill>
                  <a:srgbClr val="F85149"/>
                </a:solidFill>
                <a:latin typeface="Arial"/>
              </a:rPr>
              <a:t>not</a:t>
            </a:r>
            <a:r>
              <a:rPr sz="2400" b="0">
                <a:solidFill>
                  <a:srgbClr val="E6EDF3"/>
                </a:solidFill>
                <a:latin typeface="Arial"/>
              </a:rPr>
              <a:t> an override rate.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063240"/>
            <a:ext cx="5349240" cy="13716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What it actually is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8B949E"/>
                </a:solidFill>
                <a:latin typeface="Arial"/>
              </a:rPr>
              <a:t>351 promo-abuse alerts ÷ 371 total alerts — the mix of this cashier's alert types.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063240"/>
            <a:ext cx="38100" cy="137160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3063240"/>
            <a:ext cx="5349240" cy="13716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Why it can't be a rate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8B949E"/>
                </a:solidFill>
                <a:latin typeface="Arial"/>
              </a:rPr>
              <a:t>Denominator is alerts, not transactions. The alerts table has no transaction count at 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3063240"/>
            <a:ext cx="38100" cy="137160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4709160"/>
            <a:ext cx="10927080" cy="868680"/>
          </a:xfrm>
          <a:prstGeom prst="roundRect">
            <a:avLst/>
          </a:prstGeom>
          <a:solidFill>
            <a:srgbClr val="161B22"/>
          </a:solidFill>
          <a:ln w="15875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E6EDF3"/>
                </a:solidFill>
                <a:latin typeface="Arial"/>
              </a:rPr>
              <a:t>It compared a rate against a ratio and reported the difference to two decimals. Every number is real. </a:t>
            </a:r>
            <a:r>
              <a:rPr sz="1500" b="1">
                <a:solidFill>
                  <a:srgbClr val="F85149"/>
                </a:solidFill>
                <a:latin typeface="Arial"/>
              </a:rPr>
              <a:t>The subtraction is meaningless.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B949E"/>
                </a:solidFill>
                <a:latin typeface="Arial"/>
              </a:rPr>
              <a:t>THE LESSON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400"/>
              </a:spcAft>
            </a:pPr>
            <a:r>
              <a:rPr sz="3200" b="0">
                <a:solidFill>
                  <a:srgbClr val="8B949E"/>
                </a:solidFill>
                <a:latin typeface="Arial"/>
              </a:rPr>
              <a:t>NL2SQL doesn't fail by writing broken SQL.</a:t>
            </a:r>
          </a:p>
          <a:p>
            <a:pPr algn="ctr"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It fails by writing </a:t>
            </a:r>
            <a:r>
              <a:rPr sz="3600" b="1">
                <a:solidFill>
                  <a:srgbClr val="58A6FF"/>
                </a:solidFill>
                <a:latin typeface="Arial"/>
              </a:rPr>
              <a:t>valid</a:t>
            </a:r>
            <a:r>
              <a:rPr sz="3600" b="1">
                <a:solidFill>
                  <a:srgbClr val="FFFFFF"/>
                </a:solidFill>
                <a:latin typeface="Arial"/>
              </a:rPr>
              <a:t> SQL</a:t>
            </a:r>
          </a:p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against a metric </a:t>
            </a:r>
            <a:r>
              <a:rPr sz="3600" b="1">
                <a:solidFill>
                  <a:srgbClr val="58A6FF"/>
                </a:solidFill>
                <a:latin typeface="Arial"/>
              </a:rPr>
              <a:t>nobody defined</a:t>
            </a:r>
            <a:r>
              <a:rPr sz="3600" b="1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297680"/>
            <a:ext cx="10012680" cy="1371600"/>
          </a:xfrm>
          <a:prstGeom prst="roundRect">
            <a:avLst/>
          </a:prstGeom>
          <a:solidFill>
            <a:srgbClr val="161B22"/>
          </a:solidFill>
          <a:ln w="15875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E6EDF3"/>
                </a:solidFill>
                <a:latin typeface="Arial"/>
              </a:rPr>
              <a:t>The semantic layer isn't documentation — it's the </a:t>
            </a:r>
            <a:r>
              <a:rPr sz="1600" b="1">
                <a:solidFill>
                  <a:srgbClr val="3FB950"/>
                </a:solidFill>
                <a:latin typeface="Arial"/>
              </a:rPr>
              <a:t>control plane</a:t>
            </a:r>
            <a:r>
              <a:rPr sz="1600" b="0">
                <a:solidFill>
                  <a:srgbClr val="E6EDF3"/>
                </a:solidFill>
                <a:latin typeface="Arial"/>
              </a:rPr>
              <a:t>.
If "override rate" isn't defined once, centrally, the model will define it for you. Differently. Every 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B949E"/>
                </a:solidFill>
                <a:latin typeface="Arial"/>
              </a:rPr>
              <a:t>WHERE AUTHORISATION LIVES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051560"/>
            <a:ext cx="2331720" cy="73152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End user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OAuth 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35808" y="1207008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8B949E"/>
                </a:solidFill>
                <a:latin typeface="Arial"/>
              </a:rP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01568" y="1051560"/>
            <a:ext cx="2331720" cy="73152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session.state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app/auth.py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51576" y="1207008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8B949E"/>
                </a:solidFill>
                <a:latin typeface="Arial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17336" y="1051560"/>
            <a:ext cx="2331720" cy="73152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BigQuery job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SESSION_USER()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67344" y="1207008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8B949E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33104" y="1051560"/>
            <a:ext cx="2331720" cy="731520"/>
          </a:xfrm>
          <a:prstGeom prst="roundRect">
            <a:avLst/>
          </a:prstGeom>
          <a:solidFill>
            <a:srgbClr val="161B22"/>
          </a:solidFill>
          <a:ln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Row access policy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8B949E"/>
                </a:solidFill>
                <a:latin typeface="Consolas"/>
              </a:rPr>
              <a:t>store_id IN grants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48840"/>
            <a:ext cx="5349240" cy="155448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 prompt is a request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8B949E"/>
                </a:solidFill>
                <a:latin typeface="Arial"/>
              </a:rPr>
              <a:t>"Only show this manager their own store" — evaluated by a probabilistic system. Injection routes around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48840"/>
            <a:ext cx="38100" cy="155448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2148840"/>
            <a:ext cx="5349240" cy="155448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 row access policy is a control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8B949E"/>
                </a:solidFill>
                <a:latin typeface="Arial"/>
              </a:rPr>
              <a:t>Enforced by BigQuery beneath every tool. The model can be fully compromised and still not read another tenant's rows.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148840"/>
            <a:ext cx="38100" cy="155448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10927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>
                <a:solidFill>
                  <a:srgbClr val="E6EDF3"/>
                </a:solidFill>
                <a:latin typeface="Arial"/>
              </a:rPr>
              <a:t>Proven, not assumed: granting one store collapsed visibility from </a:t>
            </a:r>
            <a:r>
              <a:rPr sz="1700" b="1">
                <a:solidFill>
                  <a:srgbClr val="F85149"/>
                </a:solidFill>
                <a:latin typeface="Consolas"/>
              </a:rPr>
              <a:t>65,368</a:t>
            </a:r>
            <a:r>
              <a:rPr sz="1700" b="0">
                <a:solidFill>
                  <a:srgbClr val="E6EDF3"/>
                </a:solidFill>
                <a:latin typeface="Arial"/>
              </a:rPr>
              <a:t> rows to </a:t>
            </a:r>
            <a:r>
              <a:rPr sz="1700" b="1">
                <a:solidFill>
                  <a:srgbClr val="3FB950"/>
                </a:solidFill>
                <a:latin typeface="Consolas"/>
              </a:rPr>
              <a:t>1,233</a:t>
            </a:r>
            <a:r>
              <a:rPr sz="1700" b="0">
                <a:solidFill>
                  <a:srgbClr val="E6EDF3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B949E"/>
                </a:solidFill>
                <a:latin typeface="Arial"/>
              </a:rPr>
              <a:t>TAKEAWAY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51560"/>
            <a:ext cx="10927080" cy="105156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 · The model is a router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8B949E"/>
                </a:solidFill>
                <a:latin typeface="Arial"/>
              </a:rPr>
              <a:t>It holds no data and no permissions of its own. Everything hard about this was infrastructure.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38100" cy="105156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10927080" cy="105156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 · Authorisation belongs below the model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8B949E"/>
                </a:solidFill>
                <a:latin typeface="Arial"/>
              </a:rPr>
              <a:t>Prompts are requests. Row access policies are controls.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38100" cy="105156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3520440"/>
            <a:ext cx="10927080" cy="105156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 · Grounding and refusal are features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8B949E"/>
                </a:solidFill>
                <a:latin typeface="Arial"/>
              </a:rPr>
              <a:t>The system that says "I don't know which store you mean" is the one you can put in front of an auditor.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520440"/>
            <a:ext cx="38100" cy="1051560"/>
          </a:xfrm>
          <a:prstGeom prst="rect">
            <a:avLst/>
          </a:prstGeom>
          <a:solidFill>
            <a:srgbClr val="B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10927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8B949E"/>
                </a:solidFill>
                <a:latin typeface="Consolas"/>
              </a:rPr>
              <a:t>37 tests  ·  30 unit / 7 live integration  ·  all green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B949E"/>
                </a:solidFill>
                <a:latin typeface="Arial"/>
              </a:rPr>
              <a:t>BACKUP · DEMO 1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ERR-PAY-4001 — EMV PIN Pad Tokenization Timeout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27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>
                <a:solidFill>
                  <a:srgbClr val="58A6FF"/>
                </a:solidFill>
                <a:latin typeface="Arial"/>
              </a:rPr>
              <a:t>1.  </a:t>
            </a:r>
            <a:r>
              <a:rPr sz="1600" b="0">
                <a:solidFill>
                  <a:srgbClr val="E6EDF3"/>
                </a:solidFill>
                <a:latin typeface="Arial"/>
              </a:rPr>
              <a:t>Do NOT re-swipe or re-charge immediately — prevents duplicate authorizations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58A6FF"/>
                </a:solidFill>
                <a:latin typeface="Arial"/>
              </a:rPr>
              <a:t>2.  </a:t>
            </a:r>
            <a:r>
              <a:rPr sz="1600" b="0">
                <a:solidFill>
                  <a:srgbClr val="E6EDF3"/>
                </a:solidFill>
                <a:latin typeface="Arial"/>
              </a:rPr>
              <a:t>Reboot the payment module — hold Yellow + # for 3 seconds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58A6FF"/>
                </a:solidFill>
                <a:latin typeface="Arial"/>
              </a:rPr>
              <a:t>3.  </a:t>
            </a:r>
            <a:r>
              <a:rPr sz="1600" b="0">
                <a:solidFill>
                  <a:srgbClr val="E6EDF3"/>
                </a:solidFill>
                <a:latin typeface="Arial"/>
              </a:rPr>
              <a:t>Check cable connections — 12V PoweredUSB seated at both ends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58A6FF"/>
                </a:solidFill>
                <a:latin typeface="Arial"/>
              </a:rPr>
              <a:t>4.  </a:t>
            </a:r>
            <a:r>
              <a:rPr sz="1600" b="0">
                <a:solidFill>
                  <a:srgbClr val="E6EDF3"/>
                </a:solidFill>
                <a:latin typeface="Arial"/>
              </a:rPr>
              <a:t>Manager Menu → Journal Audit Slip:  AUTHORIZED_UNSETTLED → print receipt  ·  VOIDED_ERROR → re-scan and re-present 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846320"/>
            <a:ext cx="10927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8B949E"/>
                </a:solidFill>
                <a:latin typeface="Arial"/>
              </a:rPr>
              <a:t>Source: Toshiba TCx 810 POS Hardware, Diagnostics &amp; Service Guide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B949E"/>
                </a:solidFill>
                <a:latin typeface="Arial"/>
              </a:rPr>
              <a:t>BACKUP · MEASURED ON THIS SYSTEM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1092708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452628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8B949E"/>
                          </a:solidFill>
                          <a:latin typeface="Arial"/>
                        </a:rPr>
                        <a:t>Prompt</a:t>
                      </a:r>
                    </a:p>
                  </a:txBody>
                  <a:tcPr marL="91440" marR="91440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8B949E"/>
                          </a:solidFill>
                          <a:latin typeface="Arial"/>
                        </a:rPr>
                        <a:t>Latency</a:t>
                      </a:r>
                    </a:p>
                  </a:txBody>
                  <a:tcPr marL="91440" marR="91440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8B949E"/>
                          </a:solidFill>
                          <a:latin typeface="Arial"/>
                        </a:rPr>
                        <a:t>Tools dispatched</a:t>
                      </a:r>
                    </a:p>
                  </a:txBody>
                  <a:tcPr marL="91440" marR="91440" marT="36576" marB="36576" anchor="ctr">
                    <a:solidFill>
                      <a:srgbClr val="161B2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6EDF3"/>
                          </a:solidFill>
                          <a:latin typeface="Arial"/>
                        </a:rPr>
                        <a:t>Hardware error → runbook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3FB950"/>
                          </a:solidFill>
                          <a:latin typeface="Consolas"/>
                        </a:rPr>
                        <a:t>9.3s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8B949E"/>
                          </a:solidFill>
                          <a:latin typeface="Consolas"/>
                        </a:rPr>
                        <a:t>rag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6EDF3"/>
                          </a:solidFill>
                          <a:latin typeface="Arial"/>
                        </a:rPr>
                        <a:t>“the Ginza store” → refuses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3FB950"/>
                          </a:solidFill>
                          <a:latin typeface="Consolas"/>
                        </a:rPr>
                        <a:t>5.3s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8B949E"/>
                          </a:solidFill>
                          <a:latin typeface="Consolas"/>
                        </a:rPr>
                        <a:t>resolve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6EDF3"/>
                          </a:solidFill>
                          <a:latin typeface="Arial"/>
                        </a:rPr>
                        <a:t>Live cashier metrics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D29922"/>
                          </a:solidFill>
                          <a:latin typeface="Consolas"/>
                        </a:rPr>
                        <a:t>15.7s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8B949E"/>
                          </a:solidFill>
                          <a:latin typeface="Consolas"/>
                        </a:rPr>
                        <a:t>bigtable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6EDF3"/>
                          </a:solidFill>
                          <a:latin typeface="Arial"/>
                        </a:rPr>
                        <a:t>Live vs 7-day comparison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F85149"/>
                          </a:solidFill>
                          <a:latin typeface="Consolas"/>
                        </a:rPr>
                        <a:t>42.4s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8B949E"/>
                          </a:solidFill>
                          <a:latin typeface="Consolas"/>
                        </a:rPr>
                        <a:t>bigtable + analytics (parallel)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6EDF3"/>
                          </a:solidFill>
                          <a:latin typeface="Arial"/>
                        </a:rPr>
                        <a:t>“our Paris flagship” → STORE_007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F85149"/>
                          </a:solidFill>
                          <a:latin typeface="Consolas"/>
                        </a:rPr>
                        <a:t>35.2s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8B949E"/>
                          </a:solidFill>
                          <a:latin typeface="Consolas"/>
                        </a:rPr>
                        <a:t>resolve → analytics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40080" y="4114800"/>
            <a:ext cx="3520440" cy="118872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Retrieval corpus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8B949E"/>
                </a:solidFill>
                <a:latin typeface="Arial"/>
              </a:rPr>
              <a:t>129 chunks · 5 docs · 768-dim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0"/>
            <a:ext cx="38100" cy="118872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16552" y="4114800"/>
            <a:ext cx="3520440" cy="118872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Ranking caveat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8B949E"/>
                </a:solidFill>
                <a:latin typeface="Arial"/>
              </a:rPr>
              <a:t>Pure cosine ranks the wrong vendor first: HP 0.7028 vs Toshiba 0.6920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6552" y="4114800"/>
            <a:ext cx="38100" cy="118872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93024" y="4114800"/>
            <a:ext cx="3520440" cy="118872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Cost guardrails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8B949E"/>
                </a:solidFill>
                <a:latin typeface="Arial"/>
              </a:rPr>
              <a:t>Byte cap · row cap · BigQuery custom quota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3024" y="4114800"/>
            <a:ext cx="38100" cy="118872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B949E"/>
                </a:solidFill>
                <a:latin typeface="Arial"/>
              </a:rPr>
              <a:t>BACKUP · LIKELY QUESTIONS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1092708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63524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B949E"/>
                          </a:solidFill>
                          <a:latin typeface="Arial"/>
                        </a:rPr>
                        <a:t>Question</a:t>
                      </a:r>
                    </a:p>
                  </a:txBody>
                  <a:tcPr marL="91440" marR="91440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B949E"/>
                          </a:solidFill>
                          <a:latin typeface="Arial"/>
                        </a:rPr>
                        <a:t>Answer</a:t>
                      </a:r>
                    </a:p>
                  </a:txBody>
                  <a:tcPr marL="91440" marR="91440" marT="36576" marB="36576" anchor="ctr">
                    <a:solidFill>
                      <a:srgbClr val="161B2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Why not just write the SQL?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Arial"/>
                        </a:rPr>
                        <a:t>You'd write it four times for four questions. The value is routing across three storage systems behind one question. We did hand-write the retrieval SQL — only the warehouse layer is generated.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71% override rate? Absurd.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Arial"/>
                        </a:rPr>
                        <a:t>Correct — synthetic lab data. The plumbing is real; the numbers are generated.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How do you know retrieval is right?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Arial"/>
                        </a:rPr>
                        <a:t>We measure it. Reported score is true cosine, never inflated. Pure cosine ranks the wrong vendor first, so exact error-code match is a separate admission signal kept out of the score.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Why MCP, not a direct client?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Arial"/>
                        </a:rPr>
                        <a:t>Separate deployable, own IAM, own release cycle. We changed its query config without redeploying the agent.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Production ready?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Arial"/>
                        </a:rPr>
                        <a:t>No. End-user OAuth is unit-tested but never exercised with a real token; the semantic layer gap you just saw; no eval harness beyond 37 tests.</a:t>
                      </a:r>
                    </a:p>
                  </a:txBody>
                  <a:tcPr marL="91440" marR="91440" marT="36576" marB="36576" anchor="ctr"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